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staff can create quotes in under 2 minutes instead of 30 minutes manually. Customers receive professional PDFs instantly via email. We track every quote to follow up and close deals.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quote to active policy in one click. All data - customer, insurer, product - stays connected automatically.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Invoices generate automatically from policies. Payment tracking gives us real-time visibility into billing and cash 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Brokers can see exactly what they're owed and when. Partial payments are tracked automatically - no more manual spreadsheets. Discrepancies are flagged immediately for resolution.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2.png"/><Relationship Id="rId4" Type="http://schemas.openxmlformats.org/officeDocument/2006/relationships/image" Target="../media/image-12-2.png"/><Relationship Id="rId5" Type="http://schemas.openxmlformats.org/officeDocument/2006/relationships/image" Target="../media/image-12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5029200" cy="5029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206240"/>
            <a:ext cx="4206240" cy="42062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2926080"/>
            <a:ext cx="2194560" cy="2194560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548640"/>
            <a:ext cx="23774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4864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LOGO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 INSURANCE MANAGEMENT SYSTEM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24612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Streamlining Insurance Operations from Quote to Commission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868680" y="4892040"/>
            <a:ext cx="1280160" cy="0"/>
          </a:xfrm>
          <a:prstGeom prst="line">
            <a:avLst/>
          </a:prstGeom>
          <a:noFill/>
          <a:ln w="31750">
            <a:solidFill>
              <a:srgbClr val="C9A2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5029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Presentation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SYSTEM DOES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2615184" cy="3291840"/>
          </a:xfrm>
          <a:prstGeom prst="roundRect">
            <a:avLst>
              <a:gd name="adj" fmla="val 3497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36192" y="2651760"/>
            <a:ext cx="822960" cy="82296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pic>
        <p:nvPicPr>
          <p:cNvPr id="7" name="Image 0" descr="/home/claude/insurance_ppt/icons/sync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0162" y="2865730"/>
            <a:ext cx="395021" cy="39502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370332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platform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4389120"/>
            <a:ext cx="224942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system that manages the complete insurance operation.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474720" y="2331720"/>
            <a:ext cx="2615184" cy="3291840"/>
          </a:xfrm>
          <a:prstGeom prst="roundRect">
            <a:avLst>
              <a:gd name="adj" fmla="val 3497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70832" y="2651760"/>
            <a:ext cx="822960" cy="82296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pic>
        <p:nvPicPr>
          <p:cNvPr id="12" name="Image 1" descr="/home/claude/insurance_ppt/icons/rout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4802" y="2865730"/>
            <a:ext cx="395021" cy="39502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39312" y="370332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customer journey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657600" y="4389120"/>
            <a:ext cx="224942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of the customer lifecycle runs through one workflow.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309360" y="2331720"/>
            <a:ext cx="2615184" cy="3291840"/>
          </a:xfrm>
          <a:prstGeom prst="roundRect">
            <a:avLst>
              <a:gd name="adj" fmla="val 3497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205472" y="2651760"/>
            <a:ext cx="822960" cy="82296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pic>
        <p:nvPicPr>
          <p:cNvPr id="17" name="Image 2" descr="/home/claude/insurance_ppt/icons/quot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9442" y="2865730"/>
            <a:ext cx="395021" cy="39502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73952" y="370332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to commission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92240" y="4389120"/>
            <a:ext cx="224942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everything from initial quotation to final commission payout.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9144000" y="2331720"/>
            <a:ext cx="2615184" cy="3291840"/>
          </a:xfrm>
          <a:prstGeom prst="roundRect">
            <a:avLst>
              <a:gd name="adj" fmla="val 3497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10040112" y="2651760"/>
            <a:ext cx="822960" cy="82296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pic>
        <p:nvPicPr>
          <p:cNvPr id="22" name="Image 3" descr="/home/claude/insurance_ppt/icons/char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4082" y="2865730"/>
            <a:ext cx="395021" cy="395021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308592" y="370332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&amp; accuracy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9326880" y="4389120"/>
            <a:ext cx="224942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operational efficiency and reduces manual errors.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 INSURANCE MANAGEMENT SYSTEM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Customer Journey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PROCESS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741932" y="3429000"/>
            <a:ext cx="8705088" cy="0"/>
          </a:xfrm>
          <a:prstGeom prst="line">
            <a:avLst/>
          </a:prstGeom>
          <a:noFill/>
          <a:ln w="381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6172" y="3063240"/>
            <a:ext cx="731520" cy="731520"/>
          </a:xfrm>
          <a:prstGeom prst="ellipse">
            <a:avLst/>
          </a:prstGeom>
          <a:solidFill>
            <a:srgbClr val="1E2761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76172" y="3063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63524" y="4023360"/>
            <a:ext cx="1956816" cy="1554480"/>
          </a:xfrm>
          <a:prstGeom prst="roundRect">
            <a:avLst>
              <a:gd name="adj" fmla="val 4706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73252" y="416052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Inquiry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73252" y="493776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Quotation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552444" y="3063240"/>
            <a:ext cx="731520" cy="731520"/>
          </a:xfrm>
          <a:prstGeom prst="ellipse">
            <a:avLst/>
          </a:prstGeom>
          <a:solidFill>
            <a:srgbClr val="1E2761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552444" y="3063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2939796" y="4023360"/>
            <a:ext cx="1956816" cy="1554480"/>
          </a:xfrm>
          <a:prstGeom prst="roundRect">
            <a:avLst>
              <a:gd name="adj" fmla="val 4706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049524" y="416052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Quotation Accepted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049524" y="493776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Policy Created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728716" y="3063240"/>
            <a:ext cx="731520" cy="731520"/>
          </a:xfrm>
          <a:prstGeom prst="ellipse">
            <a:avLst/>
          </a:prstGeom>
          <a:solidFill>
            <a:srgbClr val="1E2761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728716" y="3063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116068" y="4023360"/>
            <a:ext cx="1956816" cy="1554480"/>
          </a:xfrm>
          <a:prstGeom prst="roundRect">
            <a:avLst>
              <a:gd name="adj" fmla="val 4706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225796" y="416052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Active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225796" y="493776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Invoice Generated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904988" y="3063240"/>
            <a:ext cx="731520" cy="731520"/>
          </a:xfrm>
          <a:prstGeom prst="ellipse">
            <a:avLst/>
          </a:prstGeom>
          <a:solidFill>
            <a:srgbClr val="1E2761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904988" y="3063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292340" y="4023360"/>
            <a:ext cx="1956816" cy="1554480"/>
          </a:xfrm>
          <a:prstGeom prst="roundRect">
            <a:avLst>
              <a:gd name="adj" fmla="val 4706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402068" y="416052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Paid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402068" y="493776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Commission Accrual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0081260" y="3063240"/>
            <a:ext cx="731520" cy="731520"/>
          </a:xfrm>
          <a:prstGeom prst="ellipse">
            <a:avLst/>
          </a:prstGeom>
          <a:solidFill>
            <a:srgbClr val="C9A24B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0081260" y="3063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9468612" y="4023360"/>
            <a:ext cx="1956816" cy="1554480"/>
          </a:xfrm>
          <a:prstGeom prst="roundRect">
            <a:avLst>
              <a:gd name="adj" fmla="val 4706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578340" y="416052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Reconciled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9578340" y="493776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Broker Paid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 INSURANCE MANAGEMENT SYSTEM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5120640"/>
            <a:ext cx="3291840" cy="329184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685800"/>
            <a:ext cx="1051560" cy="105156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pic>
        <p:nvPicPr>
          <p:cNvPr id="5" name="Image 0" descr="/home/claude/insurance_ppt/icons/quot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9206" y="959206"/>
            <a:ext cx="504749" cy="50474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19202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85800" y="224028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Quotations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685800" y="5349240"/>
            <a:ext cx="3063240" cy="1051560"/>
          </a:xfrm>
          <a:prstGeom prst="roundRect">
            <a:avLst>
              <a:gd name="adj" fmla="val 6957"/>
            </a:avLst>
          </a:prstGeom>
          <a:solidFill>
            <a:srgbClr val="141B47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" y="5458968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868680" y="571500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response times, professional quotes, improved conversion rates.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709160" y="685800"/>
            <a:ext cx="6931152" cy="1188720"/>
          </a:xfrm>
          <a:prstGeom prst="roundRect">
            <a:avLst>
              <a:gd name="adj" fmla="val 6154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910328" y="941832"/>
            <a:ext cx="658368" cy="658368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pic>
        <p:nvPicPr>
          <p:cNvPr id="13" name="Image 1" descr="/home/claude/insurance_ppt/icons/sync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1504" y="1113008"/>
            <a:ext cx="316017" cy="316017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910328" y="941832"/>
            <a:ext cx="658368" cy="658368"/>
          </a:xfrm>
          <a:prstGeom prst="ellipse">
            <a:avLst/>
          </a:prstGeom>
          <a:ln w="19050">
            <a:solidFill>
              <a:srgbClr val="1E2761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760720" y="795528"/>
            <a:ext cx="56967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quotation methods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5760720" y="1143000"/>
            <a:ext cx="56967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system-generated quotes based on risk assessment, or manual staff-created quotes for special cases.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709160" y="2103120"/>
            <a:ext cx="6931152" cy="1188720"/>
          </a:xfrm>
          <a:prstGeom prst="roundRect">
            <a:avLst>
              <a:gd name="adj" fmla="val 6154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910328" y="2359152"/>
            <a:ext cx="658368" cy="658368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pic>
        <p:nvPicPr>
          <p:cNvPr id="19" name="Image 2" descr="/home/claude/insurance_ppt/icons/envelope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1504" y="2530328"/>
            <a:ext cx="316017" cy="316017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4910328" y="2359152"/>
            <a:ext cx="658368" cy="658368"/>
          </a:xfrm>
          <a:prstGeom prst="ellipse">
            <a:avLst/>
          </a:prstGeom>
          <a:ln w="19050">
            <a:solidFill>
              <a:srgbClr val="1E2761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5760720" y="2212848"/>
            <a:ext cx="56967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PDF &amp; email delivery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5760720" y="2560320"/>
            <a:ext cx="56967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PDF quotes generated instantly and sent directly to customers by email.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4709160" y="3520440"/>
            <a:ext cx="6931152" cy="1188720"/>
          </a:xfrm>
          <a:prstGeom prst="roundRect">
            <a:avLst>
              <a:gd name="adj" fmla="val 6154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910328" y="3776472"/>
            <a:ext cx="658368" cy="658368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pic>
        <p:nvPicPr>
          <p:cNvPr id="25" name="Image 3" descr="/home/claude/insurance_ppt/icons/eye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1504" y="3947648"/>
            <a:ext cx="316017" cy="316017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4910328" y="3776472"/>
            <a:ext cx="658368" cy="658368"/>
          </a:xfrm>
          <a:prstGeom prst="ellipse">
            <a:avLst/>
          </a:prstGeom>
          <a:ln w="19050">
            <a:solidFill>
              <a:srgbClr val="1E2761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5760720" y="3630168"/>
            <a:ext cx="56967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tracking &amp; management</a:t>
            </a:r>
            <a:endParaRPr lang="en-US" sz="1350" dirty="0"/>
          </a:p>
        </p:txBody>
      </p:sp>
      <p:sp>
        <p:nvSpPr>
          <p:cNvPr id="28" name="Text 22"/>
          <p:cNvSpPr/>
          <p:nvPr/>
        </p:nvSpPr>
        <p:spPr>
          <a:xfrm>
            <a:off x="5760720" y="3977640"/>
            <a:ext cx="56967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quote is logged and trackable, making follow-up and deal closing straightforward.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 INSURANCE MANAGEMENT SYSTEM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5120640"/>
            <a:ext cx="3291840" cy="329184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685800"/>
            <a:ext cx="1051560" cy="105156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pic>
        <p:nvPicPr>
          <p:cNvPr id="5" name="Image 0" descr="/home/claude/insurance_ppt/icons/shield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9206" y="959206"/>
            <a:ext cx="504749" cy="50474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19202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85800" y="224028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 Management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685800" y="5349240"/>
            <a:ext cx="3063240" cy="1051560"/>
          </a:xfrm>
          <a:prstGeom prst="roundRect">
            <a:avLst>
              <a:gd name="adj" fmla="val 6957"/>
            </a:avLst>
          </a:prstGeom>
          <a:solidFill>
            <a:srgbClr val="141B47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" y="5458968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868680" y="571500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manual data entry, accurate policy records, better compliance.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709160" y="685800"/>
            <a:ext cx="6931152" cy="1188720"/>
          </a:xfrm>
          <a:prstGeom prst="roundRect">
            <a:avLst>
              <a:gd name="adj" fmla="val 6154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910328" y="941832"/>
            <a:ext cx="658368" cy="658368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pic>
        <p:nvPicPr>
          <p:cNvPr id="13" name="Image 1" descr="/home/claude/insurance_ppt/icons/sync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1504" y="1113008"/>
            <a:ext cx="316017" cy="316017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910328" y="941832"/>
            <a:ext cx="658368" cy="658368"/>
          </a:xfrm>
          <a:prstGeom prst="ellipse">
            <a:avLst/>
          </a:prstGeom>
          <a:ln w="19050">
            <a:solidFill>
              <a:srgbClr val="1E2761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760720" y="795528"/>
            <a:ext cx="56967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conversion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5760720" y="1143000"/>
            <a:ext cx="56967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quotations convert to active policies in a single click, with no re-entry of data.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709160" y="2103120"/>
            <a:ext cx="6931152" cy="1188720"/>
          </a:xfrm>
          <a:prstGeom prst="roundRect">
            <a:avLst>
              <a:gd name="adj" fmla="val 6154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910328" y="2359152"/>
            <a:ext cx="658368" cy="658368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pic>
        <p:nvPicPr>
          <p:cNvPr id="19" name="Image 2" descr="/home/claude/insurance_ppt/icons/contract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1504" y="2530328"/>
            <a:ext cx="316017" cy="316017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4910328" y="2359152"/>
            <a:ext cx="658368" cy="658368"/>
          </a:xfrm>
          <a:prstGeom prst="ellipse">
            <a:avLst/>
          </a:prstGeom>
          <a:ln w="19050">
            <a:solidFill>
              <a:srgbClr val="1E2761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5760720" y="2212848"/>
            <a:ext cx="56967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records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5760720" y="2560320"/>
            <a:ext cx="56967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 link directly to customer, insurer, and product data for a complete, accurate picture.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4709160" y="3520440"/>
            <a:ext cx="6931152" cy="1188720"/>
          </a:xfrm>
          <a:prstGeom prst="roundRect">
            <a:avLst>
              <a:gd name="adj" fmla="val 6154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910328" y="3776472"/>
            <a:ext cx="658368" cy="658368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pic>
        <p:nvPicPr>
          <p:cNvPr id="25" name="Image 3" descr="/home/claude/insurance_ppt/icons/chart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1504" y="3947648"/>
            <a:ext cx="316017" cy="316017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4910328" y="3776472"/>
            <a:ext cx="658368" cy="658368"/>
          </a:xfrm>
          <a:prstGeom prst="ellipse">
            <a:avLst/>
          </a:prstGeom>
          <a:ln w="19050">
            <a:solidFill>
              <a:srgbClr val="1E2761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5760720" y="3630168"/>
            <a:ext cx="56967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tracking &amp; premiums</a:t>
            </a:r>
            <a:endParaRPr lang="en-US" sz="1350" dirty="0"/>
          </a:p>
        </p:txBody>
      </p:sp>
      <p:sp>
        <p:nvSpPr>
          <p:cNvPr id="28" name="Text 22"/>
          <p:cNvSpPr/>
          <p:nvPr/>
        </p:nvSpPr>
        <p:spPr>
          <a:xfrm>
            <a:off x="5760720" y="3977640"/>
            <a:ext cx="56967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status (active, expired, pending) is tracked automatically alongside premium calculations.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 INSURANCE MANAGEMENT SYSTEM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5120640"/>
            <a:ext cx="3291840" cy="329184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685800"/>
            <a:ext cx="1051560" cy="105156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pic>
        <p:nvPicPr>
          <p:cNvPr id="5" name="Image 0" descr="/home/claude/insurance_ppt/icons/invoic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9206" y="959206"/>
            <a:ext cx="504749" cy="50474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19202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85800" y="224028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Invoicing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685800" y="5349240"/>
            <a:ext cx="3063240" cy="1051560"/>
          </a:xfrm>
          <a:prstGeom prst="roundRect">
            <a:avLst>
              <a:gd name="adj" fmla="val 6957"/>
            </a:avLst>
          </a:prstGeom>
          <a:solidFill>
            <a:srgbClr val="141B47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" y="5458968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868680" y="571500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payments, reduced billing errors, better cash flow.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709160" y="685800"/>
            <a:ext cx="6931152" cy="1188720"/>
          </a:xfrm>
          <a:prstGeom prst="roundRect">
            <a:avLst>
              <a:gd name="adj" fmla="val 6154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910328" y="941832"/>
            <a:ext cx="658368" cy="658368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pic>
        <p:nvPicPr>
          <p:cNvPr id="13" name="Image 1" descr="/home/claude/insurance_ppt/icons/sync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1504" y="1113008"/>
            <a:ext cx="316017" cy="316017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910328" y="941832"/>
            <a:ext cx="658368" cy="658368"/>
          </a:xfrm>
          <a:prstGeom prst="ellipse">
            <a:avLst/>
          </a:prstGeom>
          <a:ln w="19050">
            <a:solidFill>
              <a:srgbClr val="1E2761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760720" y="795528"/>
            <a:ext cx="56967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generation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5760720" y="1143000"/>
            <a:ext cx="56967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 are generated automatically from active policies, including support for supplementary invoices.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709160" y="2103120"/>
            <a:ext cx="6931152" cy="1188720"/>
          </a:xfrm>
          <a:prstGeom prst="roundRect">
            <a:avLst>
              <a:gd name="adj" fmla="val 6154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910328" y="2359152"/>
            <a:ext cx="658368" cy="658368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pic>
        <p:nvPicPr>
          <p:cNvPr id="19" name="Image 2" descr="/home/claude/insurance_ppt/icons/clipboard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1504" y="2530328"/>
            <a:ext cx="316017" cy="316017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4910328" y="2359152"/>
            <a:ext cx="658368" cy="658368"/>
          </a:xfrm>
          <a:prstGeom prst="ellipse">
            <a:avLst/>
          </a:prstGeom>
          <a:ln w="19050">
            <a:solidFill>
              <a:srgbClr val="1E2761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5760720" y="2212848"/>
            <a:ext cx="56967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upload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5760720" y="2560320"/>
            <a:ext cx="56967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Insurer invoices and supporting documents can be uploaded and stored against each record.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4709160" y="3520440"/>
            <a:ext cx="6931152" cy="1188720"/>
          </a:xfrm>
          <a:prstGeom prst="roundRect">
            <a:avLst>
              <a:gd name="adj" fmla="val 6154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910328" y="3776472"/>
            <a:ext cx="658368" cy="658368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pic>
        <p:nvPicPr>
          <p:cNvPr id="25" name="Image 3" descr="/home/claude/insurance_ppt/icons/envelope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1504" y="3947648"/>
            <a:ext cx="316017" cy="316017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4910328" y="3776472"/>
            <a:ext cx="658368" cy="658368"/>
          </a:xfrm>
          <a:prstGeom prst="ellipse">
            <a:avLst/>
          </a:prstGeom>
          <a:ln w="19050">
            <a:solidFill>
              <a:srgbClr val="1E2761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5760720" y="3630168"/>
            <a:ext cx="56967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tracking &amp; delivery</a:t>
            </a:r>
            <a:endParaRPr lang="en-US" sz="1350" dirty="0"/>
          </a:p>
        </p:txBody>
      </p:sp>
      <p:sp>
        <p:nvSpPr>
          <p:cNvPr id="28" name="Text 22"/>
          <p:cNvSpPr/>
          <p:nvPr/>
        </p:nvSpPr>
        <p:spPr>
          <a:xfrm>
            <a:off x="5760720" y="3977640"/>
            <a:ext cx="56967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status is tracked in real time, with invoices emailed directly to customers.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 INSURANCE MANAGEMENT SYSTEM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5120640"/>
            <a:ext cx="3291840" cy="329184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685800"/>
            <a:ext cx="1051560" cy="105156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pic>
        <p:nvPicPr>
          <p:cNvPr id="5" name="Image 0" descr="/home/claude/insurance_ppt/icons/commission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9206" y="959206"/>
            <a:ext cx="504749" cy="50474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19202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85800" y="224028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Commission Management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685800" y="5349240"/>
            <a:ext cx="3063240" cy="1051560"/>
          </a:xfrm>
          <a:prstGeom prst="roundRect">
            <a:avLst>
              <a:gd name="adj" fmla="val 6957"/>
            </a:avLst>
          </a:prstGeom>
          <a:solidFill>
            <a:srgbClr val="141B47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" y="5458968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868680" y="571500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broker relationships, accurate payments, reduced disputes.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709160" y="685800"/>
            <a:ext cx="6931152" cy="1188720"/>
          </a:xfrm>
          <a:prstGeom prst="roundRect">
            <a:avLst>
              <a:gd name="adj" fmla="val 6154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910328" y="941832"/>
            <a:ext cx="658368" cy="658368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pic>
        <p:nvPicPr>
          <p:cNvPr id="13" name="Image 1" descr="/home/claude/insurance_ppt/icons/sync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1504" y="1113008"/>
            <a:ext cx="316017" cy="316017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910328" y="941832"/>
            <a:ext cx="658368" cy="658368"/>
          </a:xfrm>
          <a:prstGeom prst="ellipse">
            <a:avLst/>
          </a:prstGeom>
          <a:ln w="19050">
            <a:solidFill>
              <a:srgbClr val="1E2761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760720" y="795528"/>
            <a:ext cx="56967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accrual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5760720" y="1143000"/>
            <a:ext cx="56967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accrues automatically the moment a policy is created — no manual calculation needed.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709160" y="2103120"/>
            <a:ext cx="6931152" cy="1188720"/>
          </a:xfrm>
          <a:prstGeom prst="roundRect">
            <a:avLst>
              <a:gd name="adj" fmla="val 6154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910328" y="2359152"/>
            <a:ext cx="658368" cy="658368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pic>
        <p:nvPicPr>
          <p:cNvPr id="19" name="Image 2" descr="/home/claude/insurance_ppt/icons/chart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1504" y="2530328"/>
            <a:ext cx="316017" cy="316017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4910328" y="2359152"/>
            <a:ext cx="658368" cy="658368"/>
          </a:xfrm>
          <a:prstGeom prst="ellipse">
            <a:avLst/>
          </a:prstGeom>
          <a:ln w="19050">
            <a:solidFill>
              <a:srgbClr val="1E2761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5760720" y="2212848"/>
            <a:ext cx="56967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vs. actual tracking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5760720" y="2560320"/>
            <a:ext cx="56967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tracks expected versus received commission, including support for partial payments.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4709160" y="3520440"/>
            <a:ext cx="6931152" cy="1188720"/>
          </a:xfrm>
          <a:prstGeom prst="roundRect">
            <a:avLst>
              <a:gd name="adj" fmla="val 6154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910328" y="3776472"/>
            <a:ext cx="658368" cy="658368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pic>
        <p:nvPicPr>
          <p:cNvPr id="25" name="Image 3" descr="/home/claude/insurance_ppt/icons/check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1504" y="3947648"/>
            <a:ext cx="316017" cy="316017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4910328" y="3776472"/>
            <a:ext cx="658368" cy="658368"/>
          </a:xfrm>
          <a:prstGeom prst="ellipse">
            <a:avLst/>
          </a:prstGeom>
          <a:ln w="19050">
            <a:solidFill>
              <a:srgbClr val="1E2761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5760720" y="3630168"/>
            <a:ext cx="56967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 workflow</a:t>
            </a:r>
            <a:endParaRPr lang="en-US" sz="1350" dirty="0"/>
          </a:p>
        </p:txBody>
      </p:sp>
      <p:sp>
        <p:nvSpPr>
          <p:cNvPr id="28" name="Text 22"/>
          <p:cNvSpPr/>
          <p:nvPr/>
        </p:nvSpPr>
        <p:spPr>
          <a:xfrm>
            <a:off x="5760720" y="3977640"/>
            <a:ext cx="56967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Discrepancies are identified automatically and routed through a clear reconciliation workflow.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 INSURANCE MANAGEMENT SYSTEM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&amp; Access Management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AND ROLES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257800" cy="1508760"/>
          </a:xfrm>
          <a:prstGeom prst="roundRect">
            <a:avLst>
              <a:gd name="adj" fmla="val 606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514600"/>
            <a:ext cx="777240" cy="77724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pic>
        <p:nvPicPr>
          <p:cNvPr id="7" name="Image 0" descr="/home/claude/insurance_ppt/icons/usersCog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8194" y="2716682"/>
            <a:ext cx="373075" cy="37307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74520" y="23317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874520" y="2715768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permission levels for Admin, Staff, and other roles keep access appropriate and controlled.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263640" y="2148840"/>
            <a:ext cx="5257800" cy="1508760"/>
          </a:xfrm>
          <a:prstGeom prst="roundRect">
            <a:avLst>
              <a:gd name="adj" fmla="val 606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19672" y="2514600"/>
            <a:ext cx="777240" cy="77724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pic>
        <p:nvPicPr>
          <p:cNvPr id="12" name="Image 1" descr="/home/claude/insurance_ppt/icons/rout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1754" y="2716682"/>
            <a:ext cx="373075" cy="37307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98080" y="23317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Office-based permissions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7498080" y="2715768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can be scoped by office or branch, matching organizational structure.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40080" y="3931920"/>
            <a:ext cx="5257800" cy="1508760"/>
          </a:xfrm>
          <a:prstGeom prst="roundRect">
            <a:avLst>
              <a:gd name="adj" fmla="val 606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96112" y="4297680"/>
            <a:ext cx="777240" cy="77724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pic>
        <p:nvPicPr>
          <p:cNvPr id="17" name="Image 2" descr="/home/claude/insurance_ppt/icons/lo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194" y="4499762"/>
            <a:ext cx="373075" cy="37307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874520" y="41148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authentication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874520" y="4498848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and session handling follow secure authentication practices throughout.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263640" y="3931920"/>
            <a:ext cx="5257800" cy="1508760"/>
          </a:xfrm>
          <a:prstGeom prst="roundRect">
            <a:avLst>
              <a:gd name="adj" fmla="val 606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519672" y="4297680"/>
            <a:ext cx="777240" cy="77724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pic>
        <p:nvPicPr>
          <p:cNvPr id="22" name="Image 3" descr="/home/claude/insurance_ppt/icons/clipboard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1754" y="4499762"/>
            <a:ext cx="373075" cy="37307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98080" y="41148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activity tracking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7498080" y="4498848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is logged, creating a reliable record of who did what and when.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640080" y="585216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EAF0FF"/>
          </a:solidFill>
          <a:ln/>
        </p:spPr>
      </p:sp>
      <p:sp>
        <p:nvSpPr>
          <p:cNvPr id="26" name="Text 20"/>
          <p:cNvSpPr/>
          <p:nvPr/>
        </p:nvSpPr>
        <p:spPr>
          <a:xfrm>
            <a:off x="868680" y="585216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Value:  Data security, accountability, and compliance with regulations.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 INSURANCE MANAGEMENT SYSTEM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Reporting &amp; Analytics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2615184" cy="3108960"/>
          </a:xfrm>
          <a:prstGeom prst="roundRect">
            <a:avLst>
              <a:gd name="adj" fmla="val 349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36192" y="2651760"/>
            <a:ext cx="822960" cy="82296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pic>
        <p:nvPicPr>
          <p:cNvPr id="6" name="Image 0" descr="/home/claude/insurance_ppt/icons/coins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0162" y="2865730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37033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Reports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22960" y="4251960"/>
            <a:ext cx="224942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visibility into accrued, expected, and paid commissions across every broker.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474720" y="2331720"/>
            <a:ext cx="2615184" cy="3108960"/>
          </a:xfrm>
          <a:prstGeom prst="roundRect">
            <a:avLst>
              <a:gd name="adj" fmla="val 3497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70832" y="2651760"/>
            <a:ext cx="822960" cy="82296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pic>
        <p:nvPicPr>
          <p:cNvPr id="11" name="Image 1" descr="/home/claude/insurance_ppt/icons/quot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4802" y="2865730"/>
            <a:ext cx="395021" cy="39502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39312" y="37033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Quotation Analytics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657600" y="4251960"/>
            <a:ext cx="224942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quote volume, conversion rates, and turnaround time.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309360" y="2331720"/>
            <a:ext cx="2615184" cy="3108960"/>
          </a:xfrm>
          <a:prstGeom prst="roundRect">
            <a:avLst>
              <a:gd name="adj" fmla="val 349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205472" y="2651760"/>
            <a:ext cx="822960" cy="82296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pic>
        <p:nvPicPr>
          <p:cNvPr id="16" name="Image 2" descr="/home/claude/insurance_ppt/icons/chart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9442" y="2865730"/>
            <a:ext cx="395021" cy="39502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73952" y="37033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Tracking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492240" y="4251960"/>
            <a:ext cx="224942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view of invoice and payment status across the portfolio.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9144000" y="2331720"/>
            <a:ext cx="2615184" cy="3108960"/>
          </a:xfrm>
          <a:prstGeom prst="roundRect">
            <a:avLst>
              <a:gd name="adj" fmla="val 3497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040112" y="2651760"/>
            <a:ext cx="822960" cy="82296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pic>
        <p:nvPicPr>
          <p:cNvPr id="21" name="Image 3" descr="/home/claude/insurance_ppt/icons/bullsey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4082" y="2865730"/>
            <a:ext cx="395021" cy="39502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08592" y="37033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9326880" y="4251960"/>
            <a:ext cx="224942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KPIs that support day-to-day management decisions.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640080" y="57150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Value:  Data-driven decisions, performance monitoring, and strategic planning.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 INSURANCE MANAGEMENT SYSTEM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206240"/>
            <a:ext cx="3840480" cy="3840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Benefits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SYSTEM MATTERS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08076" y="2103120"/>
            <a:ext cx="2048256" cy="3749040"/>
          </a:xfrm>
          <a:prstGeom prst="roundRect">
            <a:avLst>
              <a:gd name="adj" fmla="val 4464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12164" y="2377440"/>
            <a:ext cx="640080" cy="64008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pic>
        <p:nvPicPr>
          <p:cNvPr id="7" name="Image 0" descr="/home/claude/insurance_ppt/icons/bolt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8585" y="254386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17804" y="3154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99516" y="3520440"/>
            <a:ext cx="18653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50%+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45236" y="4251960"/>
            <a:ext cx="177393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manual processes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839212" y="2103120"/>
            <a:ext cx="2048256" cy="3749040"/>
          </a:xfrm>
          <a:prstGeom prst="roundRect">
            <a:avLst>
              <a:gd name="adj" fmla="val 4464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543300" y="2377440"/>
            <a:ext cx="640080" cy="64008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pic>
        <p:nvPicPr>
          <p:cNvPr id="13" name="Image 1" descr="/home/claude/insurance_ppt/icons/chec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9721" y="25438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948940" y="3154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2930652" y="3520440"/>
            <a:ext cx="18653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Fewer errors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2976372" y="4251960"/>
            <a:ext cx="177393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calculations reduce errors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070348" y="2103120"/>
            <a:ext cx="2048256" cy="3749040"/>
          </a:xfrm>
          <a:prstGeom prst="roundRect">
            <a:avLst>
              <a:gd name="adj" fmla="val 4464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774436" y="2377440"/>
            <a:ext cx="640080" cy="64008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pic>
        <p:nvPicPr>
          <p:cNvPr id="19" name="Image 2" descr="/home/claude/insurance_ppt/icons/clock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0857" y="2543861"/>
            <a:ext cx="307238" cy="30723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180076" y="3154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5161788" y="3520440"/>
            <a:ext cx="18653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5207508" y="4251960"/>
            <a:ext cx="177393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quotation and policy issuance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7301484" y="2103120"/>
            <a:ext cx="2048256" cy="3749040"/>
          </a:xfrm>
          <a:prstGeom prst="roundRect">
            <a:avLst>
              <a:gd name="adj" fmla="val 4464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8005572" y="2377440"/>
            <a:ext cx="640080" cy="64008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pic>
        <p:nvPicPr>
          <p:cNvPr id="25" name="Image 3" descr="/home/claude/insurance_ppt/icons/eye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1993" y="2543861"/>
            <a:ext cx="307238" cy="30723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411212" y="3154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7392924" y="3520440"/>
            <a:ext cx="18653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trail</a:t>
            </a:r>
            <a:endParaRPr lang="en-US" sz="1700" dirty="0"/>
          </a:p>
        </p:txBody>
      </p:sp>
      <p:sp>
        <p:nvSpPr>
          <p:cNvPr id="28" name="Text 22"/>
          <p:cNvSpPr/>
          <p:nvPr/>
        </p:nvSpPr>
        <p:spPr>
          <a:xfrm>
            <a:off x="7438644" y="4251960"/>
            <a:ext cx="177393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audit trail for all transactions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9532620" y="2103120"/>
            <a:ext cx="2048256" cy="3749040"/>
          </a:xfrm>
          <a:prstGeom prst="roundRect">
            <a:avLst>
              <a:gd name="adj" fmla="val 4464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10236708" y="2377440"/>
            <a:ext cx="640080" cy="64008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pic>
        <p:nvPicPr>
          <p:cNvPr id="31" name="Image 4" descr="/home/claude/insurance_ppt/icons/scale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03129" y="2543861"/>
            <a:ext cx="307238" cy="30723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9642348" y="3154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9624060" y="3520440"/>
            <a:ext cx="18653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grow</a:t>
            </a:r>
            <a:endParaRPr lang="en-US" sz="1700" dirty="0"/>
          </a:p>
        </p:txBody>
      </p:sp>
      <p:sp>
        <p:nvSpPr>
          <p:cNvPr id="34" name="Text 27"/>
          <p:cNvSpPr/>
          <p:nvPr/>
        </p:nvSpPr>
        <p:spPr>
          <a:xfrm>
            <a:off x="9669780" y="4251960"/>
            <a:ext cx="177393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growing business needs</a:t>
            </a:r>
            <a:endParaRPr lang="en-US" sz="1100" dirty="0"/>
          </a:p>
        </p:txBody>
      </p:sp>
      <p:sp>
        <p:nvSpPr>
          <p:cNvPr id="35" name="Text 2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 INSURANCE MANAGEMENT SYSTEM</a:t>
            </a:r>
            <a:endParaRPr lang="en-US" sz="900" dirty="0"/>
          </a:p>
        </p:txBody>
      </p:sp>
      <p:sp>
        <p:nvSpPr>
          <p:cNvPr id="36" name="Text 2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Foundation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RELIABILITY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615184" cy="3200400"/>
          </a:xfrm>
          <a:prstGeom prst="roundRect">
            <a:avLst>
              <a:gd name="adj" fmla="val 3497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36192" y="2258568"/>
            <a:ext cx="822960" cy="82296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pic>
        <p:nvPicPr>
          <p:cNvPr id="6" name="Image 0" descr="/home/claude/insurance_ppt/icons/clou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0162" y="2472538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86384" y="3264408"/>
            <a:ext cx="23225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web-based platform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04672" y="402336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from any browser, with no heavy local installation required.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474720" y="1965960"/>
            <a:ext cx="2615184" cy="3200400"/>
          </a:xfrm>
          <a:prstGeom prst="roundRect">
            <a:avLst>
              <a:gd name="adj" fmla="val 3497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70832" y="2258568"/>
            <a:ext cx="822960" cy="82296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pic>
        <p:nvPicPr>
          <p:cNvPr id="11" name="Image 1" descr="/home/claude/insurance_ppt/icons/lo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4802" y="2472538"/>
            <a:ext cx="395021" cy="39502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21024" y="3264408"/>
            <a:ext cx="23225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data storage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639312" y="402336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and customer data is stored and handled with strong security controls.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309360" y="1965960"/>
            <a:ext cx="2615184" cy="3200400"/>
          </a:xfrm>
          <a:prstGeom prst="roundRect">
            <a:avLst>
              <a:gd name="adj" fmla="val 3497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205472" y="2258568"/>
            <a:ext cx="822960" cy="82296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pic>
        <p:nvPicPr>
          <p:cNvPr id="16" name="Image 2" descr="/home/claude/insurance_ppt/icons/mobil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9442" y="2472538"/>
            <a:ext cx="395021" cy="39502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55664" y="3264408"/>
            <a:ext cx="23225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Mobile-friendly interface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473952" y="402336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and brokers can work comfortably from phones and tablets.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9144000" y="1965960"/>
            <a:ext cx="2615184" cy="3200400"/>
          </a:xfrm>
          <a:prstGeom prst="roundRect">
            <a:avLst>
              <a:gd name="adj" fmla="val 3497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040112" y="2258568"/>
            <a:ext cx="822960" cy="82296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pic>
        <p:nvPicPr>
          <p:cNvPr id="21" name="Image 3" descr="/home/claude/insurance_ppt/icons/sync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4082" y="2472538"/>
            <a:ext cx="395021" cy="39502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90304" y="3264408"/>
            <a:ext cx="23225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Cloud-ready architecture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9308592" y="402336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to scale and integrate as the business grows.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640080" y="562356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EAF0FF"/>
          </a:solidFill>
          <a:ln/>
        </p:spPr>
      </p:sp>
      <p:sp>
        <p:nvSpPr>
          <p:cNvPr id="25" name="Text 19"/>
          <p:cNvSpPr/>
          <p:nvPr/>
        </p:nvSpPr>
        <p:spPr>
          <a:xfrm>
            <a:off x="868680" y="562356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Value:  Always accessible, secure, and minimal IT overhead.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 INSURANCE MANAGEMENT SYSTEM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ROADMAP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05840" y="2606040"/>
            <a:ext cx="0" cy="2999232"/>
          </a:xfrm>
          <a:prstGeom prst="line">
            <a:avLst/>
          </a:prstGeom>
          <a:noFill/>
          <a:ln w="381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377440"/>
            <a:ext cx="640080" cy="457200"/>
          </a:xfrm>
          <a:prstGeom prst="ellipse">
            <a:avLst/>
          </a:prstGeom>
          <a:noFill/>
          <a:ln/>
        </p:spPr>
      </p:sp>
      <p:sp>
        <p:nvSpPr>
          <p:cNvPr id="7" name="Shape 5"/>
          <p:cNvSpPr/>
          <p:nvPr/>
        </p:nvSpPr>
        <p:spPr>
          <a:xfrm>
            <a:off x="777240" y="2395728"/>
            <a:ext cx="457200" cy="457200"/>
          </a:xfrm>
          <a:prstGeom prst="ellipse">
            <a:avLst/>
          </a:prstGeom>
          <a:solidFill>
            <a:srgbClr val="C9A24B"/>
          </a:solidFill>
          <a:ln w="25400">
            <a:solidFill>
              <a:srgbClr val="C9A24B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pic>
        <p:nvPicPr>
          <p:cNvPr id="8" name="Image 0" descr="/home/claude/insurance_ppt/icons/check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2505456"/>
            <a:ext cx="237744" cy="23774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417320" y="2377440"/>
            <a:ext cx="9509760" cy="566928"/>
          </a:xfrm>
          <a:prstGeom prst="roundRect">
            <a:avLst>
              <a:gd name="adj" fmla="val 9677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691640" y="2377440"/>
            <a:ext cx="9052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User training completed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85800" y="3127248"/>
            <a:ext cx="640080" cy="457200"/>
          </a:xfrm>
          <a:prstGeom prst="ellipse">
            <a:avLst/>
          </a:prstGeom>
          <a:noFill/>
          <a:ln/>
        </p:spPr>
      </p:sp>
      <p:sp>
        <p:nvSpPr>
          <p:cNvPr id="12" name="Shape 9"/>
          <p:cNvSpPr/>
          <p:nvPr/>
        </p:nvSpPr>
        <p:spPr>
          <a:xfrm>
            <a:off x="777240" y="3145536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pic>
        <p:nvPicPr>
          <p:cNvPr id="13" name="Image 1" descr="/home/claude/insurance_ppt/icons/clipboard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3255264"/>
            <a:ext cx="237744" cy="23774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417320" y="3127248"/>
            <a:ext cx="9509760" cy="566928"/>
          </a:xfrm>
          <a:prstGeom prst="roundRect">
            <a:avLst>
              <a:gd name="adj" fmla="val 9677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1691640" y="3127248"/>
            <a:ext cx="9052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Data migration in progress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685800" y="3877056"/>
            <a:ext cx="640080" cy="457200"/>
          </a:xfrm>
          <a:prstGeom prst="ellipse">
            <a:avLst/>
          </a:prstGeom>
          <a:noFill/>
          <a:ln/>
        </p:spPr>
      </p:sp>
      <p:sp>
        <p:nvSpPr>
          <p:cNvPr id="17" name="Shape 13"/>
          <p:cNvSpPr/>
          <p:nvPr/>
        </p:nvSpPr>
        <p:spPr>
          <a:xfrm>
            <a:off x="777240" y="3895344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pic>
        <p:nvPicPr>
          <p:cNvPr id="18" name="Image 2" descr="/home/claude/insurance_ppt/icons/clipboard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4005072"/>
            <a:ext cx="237744" cy="237744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1417320" y="3877056"/>
            <a:ext cx="9509760" cy="566928"/>
          </a:xfrm>
          <a:prstGeom prst="roundRect">
            <a:avLst>
              <a:gd name="adj" fmla="val 9677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1691640" y="3877056"/>
            <a:ext cx="9052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System testing underway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685800" y="4626864"/>
            <a:ext cx="640080" cy="457200"/>
          </a:xfrm>
          <a:prstGeom prst="ellipse">
            <a:avLst/>
          </a:prstGeom>
          <a:noFill/>
          <a:ln/>
        </p:spPr>
      </p:sp>
      <p:sp>
        <p:nvSpPr>
          <p:cNvPr id="22" name="Shape 17"/>
          <p:cNvSpPr/>
          <p:nvPr/>
        </p:nvSpPr>
        <p:spPr>
          <a:xfrm>
            <a:off x="777240" y="4645152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pic>
        <p:nvPicPr>
          <p:cNvPr id="23" name="Image 3" descr="/home/claude/insurance_ppt/icons/clipboard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4754880"/>
            <a:ext cx="237744" cy="237744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1417320" y="4626864"/>
            <a:ext cx="9509760" cy="566928"/>
          </a:xfrm>
          <a:prstGeom prst="roundRect">
            <a:avLst>
              <a:gd name="adj" fmla="val 9677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25" name="Text 19"/>
          <p:cNvSpPr/>
          <p:nvPr/>
        </p:nvSpPr>
        <p:spPr>
          <a:xfrm>
            <a:off x="1691640" y="4626864"/>
            <a:ext cx="9052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Go-live date: [Insert Date]</a:t>
            </a:r>
            <a:endParaRPr lang="en-US" sz="1400" dirty="0"/>
          </a:p>
        </p:txBody>
      </p:sp>
      <p:sp>
        <p:nvSpPr>
          <p:cNvPr id="26" name="Shape 20"/>
          <p:cNvSpPr/>
          <p:nvPr/>
        </p:nvSpPr>
        <p:spPr>
          <a:xfrm>
            <a:off x="685800" y="5376672"/>
            <a:ext cx="640080" cy="457200"/>
          </a:xfrm>
          <a:prstGeom prst="ellipse">
            <a:avLst/>
          </a:prstGeom>
          <a:noFill/>
          <a:ln/>
        </p:spPr>
      </p:sp>
      <p:sp>
        <p:nvSpPr>
          <p:cNvPr id="27" name="Shape 21"/>
          <p:cNvSpPr/>
          <p:nvPr/>
        </p:nvSpPr>
        <p:spPr>
          <a:xfrm>
            <a:off x="777240" y="5394960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pic>
        <p:nvPicPr>
          <p:cNvPr id="28" name="Image 4" descr="/home/claude/insurance_ppt/icons/clipboard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" y="5504688"/>
            <a:ext cx="237744" cy="237744"/>
          </a:xfrm>
          <a:prstGeom prst="rect">
            <a:avLst/>
          </a:prstGeom>
        </p:spPr>
      </p:pic>
      <p:sp>
        <p:nvSpPr>
          <p:cNvPr id="29" name="Shape 22"/>
          <p:cNvSpPr/>
          <p:nvPr/>
        </p:nvSpPr>
        <p:spPr>
          <a:xfrm>
            <a:off x="1417320" y="5376672"/>
            <a:ext cx="9509760" cy="566928"/>
          </a:xfrm>
          <a:prstGeom prst="roundRect">
            <a:avLst>
              <a:gd name="adj" fmla="val 9677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30" name="Text 23"/>
          <p:cNvSpPr/>
          <p:nvPr/>
        </p:nvSpPr>
        <p:spPr>
          <a:xfrm>
            <a:off x="1691640" y="5376672"/>
            <a:ext cx="9052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Ongoing support &amp; improvements</a:t>
            </a:r>
            <a:endParaRPr lang="en-US" sz="1400" dirty="0"/>
          </a:p>
        </p:txBody>
      </p:sp>
      <p:sp>
        <p:nvSpPr>
          <p:cNvPr id="31" name="Text 2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 INSURANCE MANAGEMENT SYSTEM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1828800"/>
            <a:ext cx="5029200" cy="5029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114800"/>
            <a:ext cx="4389120" cy="43891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5500116" y="1920240"/>
            <a:ext cx="1188720" cy="118872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pic>
        <p:nvPicPr>
          <p:cNvPr id="5" name="Image 0" descr="/home/claude/insurance_ppt/icons/comments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9183" y="2229307"/>
            <a:ext cx="570586" cy="5705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33832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Discussion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822960" y="4160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 INSURANCE MANAGEMENT SYSTEM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 INSURANCE MANAGEMENT SYSTEM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2026-08-17T08:48:26Z</dcterms:created>
  <dcterms:modified xsi:type="dcterms:W3CDTF">2026-08-17T08:48:26Z</dcterms:modified>
</cp:coreProperties>
</file>